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8926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22" y="891350"/>
            <a:ext cx="2857500" cy="82909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685576" y="2606269"/>
            <a:ext cx="3772821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kern="0" spc="-1" dirty="0">
                <a:solidFill>
                  <a:srgbClr val="FF6B35"/>
                </a:solidFill>
              </a:rPr>
              <a:t>Tiozão Barbearia</a:t>
            </a:r>
            <a:endParaRPr lang="en-US" sz="3294" dirty="0"/>
          </a:p>
        </p:txBody>
      </p:sp>
      <p:sp>
        <p:nvSpPr>
          <p:cNvPr id="5" name="Text 1"/>
          <p:cNvSpPr/>
          <p:nvPr/>
        </p:nvSpPr>
        <p:spPr>
          <a:xfrm>
            <a:off x="2942053" y="3369199"/>
            <a:ext cx="3259838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E66D"/>
                </a:solidFill>
              </a:rPr>
              <a:t>A Evolução do Agendamento</a:t>
            </a:r>
            <a:endParaRPr lang="en-US" sz="1602" dirty="0"/>
          </a:p>
        </p:txBody>
      </p:sp>
      <p:sp>
        <p:nvSpPr>
          <p:cNvPr id="6" name="Text 2"/>
          <p:cNvSpPr/>
          <p:nvPr/>
        </p:nvSpPr>
        <p:spPr>
          <a:xfrm>
            <a:off x="3182931" y="4023550"/>
            <a:ext cx="277808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F7F7F7"/>
                </a:solidFill>
              </a:rPr>
              <a:t>Seu corte e barba na hora certa, sem filas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Chega de Espera!</a:t>
            </a:r>
            <a:endParaRPr lang="en-US" sz="243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302408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7213" y="2273833"/>
            <a:ext cx="10033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E66D"/>
                </a:solidFill>
              </a:rPr>
              <a:t>O Problema</a:t>
            </a:r>
            <a:endParaRPr lang="en-US" sz="1193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2995352"/>
            <a:ext cx="89297" cy="1428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82203" y="2981065"/>
            <a:ext cx="14415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7F7F7"/>
                </a:solidFill>
              </a:rPr>
              <a:t>Filas longas e imprevisíveis</a:t>
            </a:r>
            <a:endParaRPr lang="en-US" sz="834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309677"/>
            <a:ext cx="89297" cy="1428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82203" y="3295390"/>
            <a:ext cx="30685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7F7F7"/>
                </a:solidFill>
              </a:rPr>
              <a:t>Dificuldade em gerenciar horários de clientes e barbeiros</a:t>
            </a:r>
            <a:endParaRPr lang="en-US" sz="834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624002"/>
            <a:ext cx="89297" cy="14287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82203" y="3609715"/>
            <a:ext cx="2726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7F7F7"/>
                </a:solidFill>
              </a:rPr>
              <a:t>Perda de clientes devido à frustração com a espera</a:t>
            </a:r>
            <a:endParaRPr lang="en-US" sz="834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2302408"/>
            <a:ext cx="200025" cy="20002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986338" y="2273833"/>
            <a:ext cx="8262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E66D"/>
                </a:solidFill>
              </a:rPr>
              <a:t>A Solução</a:t>
            </a:r>
            <a:endParaRPr lang="en-US" sz="1193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2995352"/>
            <a:ext cx="142875" cy="14287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964906" y="2981065"/>
            <a:ext cx="204082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7F7F7"/>
                </a:solidFill>
              </a:rPr>
              <a:t>Agendamento online simples e rápido</a:t>
            </a:r>
            <a:endParaRPr lang="en-US" sz="834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3309677"/>
            <a:ext cx="142875" cy="142875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4964906" y="3295390"/>
            <a:ext cx="27423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7F7F7"/>
                </a:solidFill>
              </a:rPr>
              <a:t>Visualização de horários disponíveis em tempo real</a:t>
            </a:r>
            <a:endParaRPr lang="en-US" sz="834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3624002"/>
            <a:ext cx="142875" cy="142875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4964906" y="3609715"/>
            <a:ext cx="17268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7F7F7"/>
                </a:solidFill>
              </a:rPr>
              <a:t>Gestão eficiente para o barbeiro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Construído com Flet e Python</a:t>
            </a:r>
            <a:endParaRPr lang="en-US" sz="243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422695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7213" y="1394120"/>
            <a:ext cx="32216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E66D"/>
                </a:solidFill>
              </a:rPr>
              <a:t>Flet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285750" y="1958476"/>
            <a:ext cx="4143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7F7F7"/>
                </a:solidFill>
              </a:rPr>
              <a:t>Framework que permite construir aplicativos multi-plataforma (Web, Desktop, Mobile) usando Python.</a:t>
            </a:r>
            <a:endParaRPr lang="en-US" sz="834" dirty="0"/>
          </a:p>
        </p:txBody>
      </p:sp>
      <p:sp>
        <p:nvSpPr>
          <p:cNvPr id="7" name="Text 3"/>
          <p:cNvSpPr/>
          <p:nvPr/>
        </p:nvSpPr>
        <p:spPr>
          <a:xfrm>
            <a:off x="357188" y="2538515"/>
            <a:ext cx="61107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E66D"/>
                </a:solidFill>
              </a:rPr>
              <a:t>Python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285750" y="3102871"/>
            <a:ext cx="41433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7F7F7"/>
                </a:solidFill>
              </a:rPr>
              <a:t>Linguagem de programação robusta, versátil e fácil de manter.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285750" y="3642922"/>
            <a:ext cx="4143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6B35"/>
                </a:solidFill>
              </a:rPr>
              <a:t>Vantagens</a:t>
            </a:r>
            <a:endParaRPr lang="en-US" sz="987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978678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5775" y="3964391"/>
            <a:ext cx="17763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F7F7F7"/>
                </a:solidFill>
              </a:rPr>
              <a:t>Desenvolvimento rápido e eficiente</a:t>
            </a:r>
            <a:endParaRPr lang="en-US" sz="78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4210850"/>
            <a:ext cx="128588" cy="128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5775" y="4196562"/>
            <a:ext cx="199838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F7F7F7"/>
                </a:solidFill>
              </a:rPr>
              <a:t>Código único para diversas plataformas</a:t>
            </a:r>
            <a:endParaRPr lang="en-US" sz="78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4443022"/>
            <a:ext cx="128588" cy="1285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85775" y="4428734"/>
            <a:ext cx="171321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F7F7F7"/>
                </a:solidFill>
              </a:rPr>
              <a:t>Fácil manutenção e escalabilidade</a:t>
            </a:r>
            <a:endParaRPr lang="en-US" sz="78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5407" y="1241561"/>
            <a:ext cx="3302282" cy="35718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Agende em 3 Passos Simples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247961" y="1404082"/>
            <a:ext cx="504203" cy="428625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5" name="Text 2"/>
          <p:cNvSpPr/>
          <p:nvPr/>
        </p:nvSpPr>
        <p:spPr>
          <a:xfrm>
            <a:off x="247961" y="1404082"/>
            <a:ext cx="504203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1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857250" y="1404082"/>
            <a:ext cx="3571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E66D"/>
                </a:solidFill>
              </a:rPr>
              <a:t>Seleção de Serviço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857250" y="1654113"/>
            <a:ext cx="3571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F7F7F7"/>
                </a:solidFill>
              </a:rPr>
              <a:t>Escolha entre Corte, Barba ou Combo (Corte + Barba)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247961" y="2011300"/>
            <a:ext cx="504203" cy="428625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9" name="Text 6"/>
          <p:cNvSpPr/>
          <p:nvPr/>
        </p:nvSpPr>
        <p:spPr>
          <a:xfrm>
            <a:off x="247961" y="2011300"/>
            <a:ext cx="504203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2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857250" y="2011300"/>
            <a:ext cx="3571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E66D"/>
                </a:solidFill>
              </a:rPr>
              <a:t>Calendário Interativo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857250" y="2261332"/>
            <a:ext cx="3571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F7F7F7"/>
                </a:solidFill>
              </a:rPr>
              <a:t>Selecione a data e veja os horários livres em tempo real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247961" y="2618519"/>
            <a:ext cx="504203" cy="428625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3" name="Text 10"/>
          <p:cNvSpPr/>
          <p:nvPr/>
        </p:nvSpPr>
        <p:spPr>
          <a:xfrm>
            <a:off x="247961" y="2618519"/>
            <a:ext cx="504203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3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857250" y="2618519"/>
            <a:ext cx="3571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E66D"/>
                </a:solidFill>
              </a:rPr>
              <a:t>Confirmação Rápida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857250" y="2868550"/>
            <a:ext cx="3571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F7F7F7"/>
                </a:solidFill>
              </a:rPr>
              <a:t>Agende e receba a confirmação instantânea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285750" y="3525775"/>
            <a:ext cx="41433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4ECDC4"/>
                </a:solidFill>
              </a:rPr>
              <a:t>Serviços Disponíveis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285750" y="3882963"/>
            <a:ext cx="28664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7F7F7"/>
                </a:solidFill>
              </a:rPr>
              <a:t>Corte</a:t>
            </a:r>
            <a:endParaRPr lang="en-US" sz="734" dirty="0"/>
          </a:p>
        </p:txBody>
      </p:sp>
      <p:sp>
        <p:nvSpPr>
          <p:cNvPr id="18" name="Text 15"/>
          <p:cNvSpPr/>
          <p:nvPr/>
        </p:nvSpPr>
        <p:spPr>
          <a:xfrm>
            <a:off x="3993524" y="3882963"/>
            <a:ext cx="43560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E66D"/>
                </a:solidFill>
              </a:rPr>
              <a:t>R$ 40,00</a:t>
            </a:r>
            <a:endParaRPr lang="en-US" sz="734" dirty="0"/>
          </a:p>
        </p:txBody>
      </p:sp>
      <p:sp>
        <p:nvSpPr>
          <p:cNvPr id="19" name="Text 16"/>
          <p:cNvSpPr/>
          <p:nvPr/>
        </p:nvSpPr>
        <p:spPr>
          <a:xfrm>
            <a:off x="285750" y="4157997"/>
            <a:ext cx="31131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7F7F7"/>
                </a:solidFill>
              </a:rPr>
              <a:t>Barba</a:t>
            </a:r>
            <a:endParaRPr lang="en-US" sz="734" dirty="0"/>
          </a:p>
        </p:txBody>
      </p:sp>
      <p:sp>
        <p:nvSpPr>
          <p:cNvPr id="20" name="Text 17"/>
          <p:cNvSpPr/>
          <p:nvPr/>
        </p:nvSpPr>
        <p:spPr>
          <a:xfrm>
            <a:off x="3993524" y="4157997"/>
            <a:ext cx="43560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E66D"/>
                </a:solidFill>
              </a:rPr>
              <a:t>R$ 30,00</a:t>
            </a:r>
            <a:endParaRPr lang="en-US" sz="734" dirty="0"/>
          </a:p>
        </p:txBody>
      </p:sp>
      <p:sp>
        <p:nvSpPr>
          <p:cNvPr id="21" name="Text 18"/>
          <p:cNvSpPr/>
          <p:nvPr/>
        </p:nvSpPr>
        <p:spPr>
          <a:xfrm>
            <a:off x="285750" y="4433032"/>
            <a:ext cx="71496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7F7F7"/>
                </a:solidFill>
              </a:rPr>
              <a:t>Corte + Barba</a:t>
            </a:r>
            <a:endParaRPr lang="en-US" sz="734" dirty="0"/>
          </a:p>
        </p:txBody>
      </p:sp>
      <p:sp>
        <p:nvSpPr>
          <p:cNvPr id="22" name="Text 19"/>
          <p:cNvSpPr/>
          <p:nvPr/>
        </p:nvSpPr>
        <p:spPr>
          <a:xfrm>
            <a:off x="3993524" y="4433032"/>
            <a:ext cx="43560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E66D"/>
                </a:solidFill>
              </a:rPr>
              <a:t>R$ 60,00</a:t>
            </a:r>
            <a:endParaRPr lang="en-US" sz="734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678EADB8-DAFB-29A1-CB45-C5C0D6392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824" y="913215"/>
            <a:ext cx="1815799" cy="3973785"/>
          </a:xfrm>
          <a:prstGeom prst="rect">
            <a:avLst/>
          </a:prstGeom>
        </p:spPr>
      </p:pic>
      <p:pic>
        <p:nvPicPr>
          <p:cNvPr id="30" name="Imagem 29" descr="Uma imagem com texto, captura de ecrã, Tipo de letra, design">
            <a:extLst>
              <a:ext uri="{FF2B5EF4-FFF2-40B4-BE49-F238E27FC236}">
                <a16:creationId xmlns:a16="http://schemas.microsoft.com/office/drawing/2014/main" id="{0A9AC579-A3EA-9CD3-AFEF-A2F2A204A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596963"/>
            <a:ext cx="2485447" cy="22747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Acesso Seguro e Personalizado</a:t>
            </a:r>
            <a:endParaRPr lang="en-US" sz="243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9" y="1109793"/>
            <a:ext cx="300038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35844" y="986563"/>
            <a:ext cx="7679531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E66D"/>
                </a:solidFill>
              </a:rPr>
              <a:t>Login e Cadastro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1035844" y="1280880"/>
            <a:ext cx="7679531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7F7F7"/>
                </a:solidFill>
              </a:rPr>
              <a:t>Sistema de autenticação robusto que protege o acesso ao aplicativo.</a:t>
            </a:r>
            <a:endParaRPr lang="en-US" sz="834" dirty="0"/>
          </a:p>
        </p:txBody>
      </p:sp>
      <p:sp>
        <p:nvSpPr>
          <p:cNvPr id="7" name="Text 3"/>
          <p:cNvSpPr/>
          <p:nvPr/>
        </p:nvSpPr>
        <p:spPr>
          <a:xfrm>
            <a:off x="1035844" y="1520893"/>
            <a:ext cx="4029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•</a:t>
            </a:r>
            <a:endParaRPr lang="en-US" sz="734" dirty="0"/>
          </a:p>
        </p:txBody>
      </p:sp>
      <p:sp>
        <p:nvSpPr>
          <p:cNvPr id="8" name="Text 4"/>
          <p:cNvSpPr/>
          <p:nvPr/>
        </p:nvSpPr>
        <p:spPr>
          <a:xfrm>
            <a:off x="1147576" y="1520893"/>
            <a:ext cx="185639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F7F7F7"/>
                </a:solidFill>
              </a:rPr>
              <a:t>Verificação de credenciais de usuário</a:t>
            </a:r>
            <a:endParaRPr lang="en-US" sz="780" dirty="0"/>
          </a:p>
        </p:txBody>
      </p:sp>
      <p:sp>
        <p:nvSpPr>
          <p:cNvPr id="9" name="Text 5"/>
          <p:cNvSpPr/>
          <p:nvPr/>
        </p:nvSpPr>
        <p:spPr>
          <a:xfrm>
            <a:off x="1035844" y="1724490"/>
            <a:ext cx="4029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•</a:t>
            </a:r>
            <a:endParaRPr lang="en-US" sz="734" dirty="0"/>
          </a:p>
        </p:txBody>
      </p:sp>
      <p:sp>
        <p:nvSpPr>
          <p:cNvPr id="10" name="Text 6"/>
          <p:cNvSpPr/>
          <p:nvPr/>
        </p:nvSpPr>
        <p:spPr>
          <a:xfrm>
            <a:off x="1147576" y="1724490"/>
            <a:ext cx="184021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F7F7F7"/>
                </a:solidFill>
              </a:rPr>
              <a:t>Persistência de sessão entre acessos</a:t>
            </a:r>
            <a:endParaRPr lang="en-US" sz="78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9" y="2737117"/>
            <a:ext cx="300038" cy="342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5844" y="2613887"/>
            <a:ext cx="7679531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E66D"/>
                </a:solidFill>
              </a:rPr>
              <a:t>Armazenamento de Dados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1035844" y="2908204"/>
            <a:ext cx="7679531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7F7F7"/>
                </a:solidFill>
              </a:rPr>
              <a:t>Dados de agendamento e usuários salvos de forma segura e organizada.</a:t>
            </a:r>
            <a:endParaRPr lang="en-US" sz="834" dirty="0"/>
          </a:p>
        </p:txBody>
      </p:sp>
      <p:sp>
        <p:nvSpPr>
          <p:cNvPr id="14" name="Text 9"/>
          <p:cNvSpPr/>
          <p:nvPr/>
        </p:nvSpPr>
        <p:spPr>
          <a:xfrm>
            <a:off x="1035844" y="3148217"/>
            <a:ext cx="4029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•</a:t>
            </a:r>
            <a:endParaRPr lang="en-US" sz="734" dirty="0"/>
          </a:p>
        </p:txBody>
      </p:sp>
      <p:sp>
        <p:nvSpPr>
          <p:cNvPr id="15" name="Text 10"/>
          <p:cNvSpPr/>
          <p:nvPr/>
        </p:nvSpPr>
        <p:spPr>
          <a:xfrm>
            <a:off x="1147576" y="3148217"/>
            <a:ext cx="27080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F7F7F7"/>
                </a:solidFill>
              </a:rPr>
              <a:t>Armazenamento local em arquivos JSON estruturados</a:t>
            </a:r>
            <a:endParaRPr lang="en-US" sz="780" dirty="0"/>
          </a:p>
        </p:txBody>
      </p:sp>
      <p:sp>
        <p:nvSpPr>
          <p:cNvPr id="16" name="Text 11"/>
          <p:cNvSpPr/>
          <p:nvPr/>
        </p:nvSpPr>
        <p:spPr>
          <a:xfrm>
            <a:off x="1035844" y="3351814"/>
            <a:ext cx="4029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•</a:t>
            </a:r>
            <a:endParaRPr lang="en-US" sz="734" dirty="0"/>
          </a:p>
        </p:txBody>
      </p:sp>
      <p:sp>
        <p:nvSpPr>
          <p:cNvPr id="17" name="Text 12"/>
          <p:cNvSpPr/>
          <p:nvPr/>
        </p:nvSpPr>
        <p:spPr>
          <a:xfrm>
            <a:off x="1147576" y="3351814"/>
            <a:ext cx="184855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F7F7F7"/>
                </a:solidFill>
              </a:rPr>
              <a:t>Fácil backup e recuperação de dados</a:t>
            </a:r>
            <a:endParaRPr lang="en-US" sz="78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8" y="4364441"/>
            <a:ext cx="342900" cy="3429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35844" y="4241211"/>
            <a:ext cx="7679531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E66D"/>
                </a:solidFill>
              </a:rPr>
              <a:t>Segurança de Senhas</a:t>
            </a:r>
            <a:endParaRPr lang="en-US" sz="1193" dirty="0"/>
          </a:p>
        </p:txBody>
      </p:sp>
      <p:sp>
        <p:nvSpPr>
          <p:cNvPr id="20" name="Text 14"/>
          <p:cNvSpPr/>
          <p:nvPr/>
        </p:nvSpPr>
        <p:spPr>
          <a:xfrm>
            <a:off x="1035844" y="4535528"/>
            <a:ext cx="7679531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7F7F7"/>
                </a:solidFill>
              </a:rPr>
              <a:t>Criptografia avançada para proteger as senhas dos usuários.</a:t>
            </a:r>
            <a:endParaRPr lang="en-US" sz="834" dirty="0"/>
          </a:p>
        </p:txBody>
      </p:sp>
      <p:sp>
        <p:nvSpPr>
          <p:cNvPr id="21" name="Text 15"/>
          <p:cNvSpPr/>
          <p:nvPr/>
        </p:nvSpPr>
        <p:spPr>
          <a:xfrm>
            <a:off x="1035844" y="4775541"/>
            <a:ext cx="4029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•</a:t>
            </a:r>
            <a:endParaRPr lang="en-US" sz="734" dirty="0"/>
          </a:p>
        </p:txBody>
      </p:sp>
      <p:sp>
        <p:nvSpPr>
          <p:cNvPr id="22" name="Text 16"/>
          <p:cNvSpPr/>
          <p:nvPr/>
        </p:nvSpPr>
        <p:spPr>
          <a:xfrm>
            <a:off x="1147576" y="4775541"/>
            <a:ext cx="279881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F7F7F7"/>
                </a:solidFill>
              </a:rPr>
              <a:t>Uso de bcrypt para criptografia de senhas (se instalado)</a:t>
            </a:r>
            <a:endParaRPr lang="en-US" sz="780" dirty="0"/>
          </a:p>
        </p:txBody>
      </p:sp>
      <p:sp>
        <p:nvSpPr>
          <p:cNvPr id="23" name="Text 17"/>
          <p:cNvSpPr/>
          <p:nvPr/>
        </p:nvSpPr>
        <p:spPr>
          <a:xfrm>
            <a:off x="1035844" y="4979138"/>
            <a:ext cx="4029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•</a:t>
            </a:r>
            <a:endParaRPr lang="en-US" sz="734" dirty="0"/>
          </a:p>
        </p:txBody>
      </p:sp>
      <p:sp>
        <p:nvSpPr>
          <p:cNvPr id="24" name="Text 18"/>
          <p:cNvSpPr/>
          <p:nvPr/>
        </p:nvSpPr>
        <p:spPr>
          <a:xfrm>
            <a:off x="1147576" y="4979138"/>
            <a:ext cx="275779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F7F7F7"/>
                </a:solidFill>
              </a:rPr>
              <a:t>Prática de segurança essencial para proteção de dados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848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Navegação Intuitiva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2714625" y="911526"/>
            <a:ext cx="428625" cy="428625"/>
          </a:xfrm>
          <a:prstGeom prst="rect">
            <a:avLst/>
          </a:prstGeom>
          <a:solidFill>
            <a:srgbClr val="FF6B35">
              <a:alpha val="10000"/>
            </a:srgbClr>
          </a:solidFill>
          <a:ln w="18288">
            <a:solidFill>
              <a:srgbClr val="4ECDC4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8203" y="982963"/>
            <a:ext cx="321469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585089" y="1368726"/>
            <a:ext cx="68769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E66D"/>
                </a:solidFill>
              </a:rPr>
              <a:t>Tela Inicial</a:t>
            </a:r>
            <a:endParaRPr lang="en-US" sz="885" dirty="0"/>
          </a:p>
        </p:txBody>
      </p:sp>
      <p:sp>
        <p:nvSpPr>
          <p:cNvPr id="7" name="Text 3"/>
          <p:cNvSpPr/>
          <p:nvPr/>
        </p:nvSpPr>
        <p:spPr>
          <a:xfrm>
            <a:off x="2286000" y="1590182"/>
            <a:ext cx="12858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F7F7F7"/>
                </a:solidFill>
              </a:rPr>
              <a:t>Apresentação e boas-vindas</a:t>
            </a:r>
            <a:endParaRPr lang="en-US" sz="727" dirty="0"/>
          </a:p>
        </p:txBody>
      </p:sp>
      <p:sp>
        <p:nvSpPr>
          <p:cNvPr id="8" name="Shape 4"/>
          <p:cNvSpPr/>
          <p:nvPr/>
        </p:nvSpPr>
        <p:spPr>
          <a:xfrm>
            <a:off x="6000750" y="1870184"/>
            <a:ext cx="428625" cy="428625"/>
          </a:xfrm>
          <a:prstGeom prst="rect">
            <a:avLst/>
          </a:prstGeom>
          <a:solidFill>
            <a:srgbClr val="FF6B35">
              <a:alpha val="10000"/>
            </a:srgbClr>
          </a:solidFill>
          <a:ln w="18288">
            <a:solidFill>
              <a:srgbClr val="4ECDC4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88" y="1941621"/>
            <a:ext cx="285750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722953" y="2327384"/>
            <a:ext cx="9842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E66D"/>
                </a:solidFill>
              </a:rPr>
              <a:t>Login/Cadastro</a:t>
            </a:r>
            <a:endParaRPr lang="en-US" sz="885" dirty="0"/>
          </a:p>
        </p:txBody>
      </p:sp>
      <p:sp>
        <p:nvSpPr>
          <p:cNvPr id="11" name="Text 6"/>
          <p:cNvSpPr/>
          <p:nvPr/>
        </p:nvSpPr>
        <p:spPr>
          <a:xfrm>
            <a:off x="5786549" y="2548840"/>
            <a:ext cx="857027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F7F7F7"/>
                </a:solidFill>
              </a:rPr>
              <a:t>Acesso ao sistema</a:t>
            </a:r>
            <a:endParaRPr lang="en-US" sz="727" dirty="0"/>
          </a:p>
        </p:txBody>
      </p:sp>
      <p:sp>
        <p:nvSpPr>
          <p:cNvPr id="12" name="Shape 7"/>
          <p:cNvSpPr/>
          <p:nvPr/>
        </p:nvSpPr>
        <p:spPr>
          <a:xfrm>
            <a:off x="2714625" y="2688841"/>
            <a:ext cx="428625" cy="428625"/>
          </a:xfrm>
          <a:prstGeom prst="rect">
            <a:avLst/>
          </a:prstGeom>
          <a:solidFill>
            <a:srgbClr val="FF6B35">
              <a:alpha val="10000"/>
            </a:srgbClr>
          </a:solidFill>
          <a:ln w="18288">
            <a:solidFill>
              <a:srgbClr val="4ECDC4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6063" y="2760278"/>
            <a:ext cx="285750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738819" y="3146041"/>
            <a:ext cx="38023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E66D"/>
                </a:solidFill>
              </a:rPr>
              <a:t>Home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2304250" y="3367497"/>
            <a:ext cx="12493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F7F7F7"/>
                </a:solidFill>
              </a:rPr>
              <a:t>Painel principal do usuário</a:t>
            </a:r>
            <a:endParaRPr lang="en-US" sz="727" dirty="0"/>
          </a:p>
        </p:txBody>
      </p:sp>
      <p:sp>
        <p:nvSpPr>
          <p:cNvPr id="16" name="Shape 10"/>
          <p:cNvSpPr/>
          <p:nvPr/>
        </p:nvSpPr>
        <p:spPr>
          <a:xfrm>
            <a:off x="6000750" y="3507498"/>
            <a:ext cx="428625" cy="428625"/>
          </a:xfrm>
          <a:prstGeom prst="rect">
            <a:avLst/>
          </a:prstGeom>
          <a:solidFill>
            <a:srgbClr val="FF6B35">
              <a:alpha val="10000"/>
            </a:srgbClr>
          </a:solidFill>
          <a:ln w="18288">
            <a:solidFill>
              <a:srgbClr val="4ECDC4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188" y="3578935"/>
            <a:ext cx="285750" cy="2857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51441" y="3964698"/>
            <a:ext cx="52721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E66D"/>
                </a:solidFill>
              </a:rPr>
              <a:t>Serviços</a:t>
            </a:r>
            <a:endParaRPr lang="en-US" sz="885" dirty="0"/>
          </a:p>
        </p:txBody>
      </p:sp>
      <p:sp>
        <p:nvSpPr>
          <p:cNvPr id="19" name="Text 12"/>
          <p:cNvSpPr/>
          <p:nvPr/>
        </p:nvSpPr>
        <p:spPr>
          <a:xfrm>
            <a:off x="5572125" y="4186154"/>
            <a:ext cx="12858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F7F7F7"/>
                </a:solidFill>
              </a:rPr>
              <a:t>Escolha do serviço desejado</a:t>
            </a:r>
            <a:endParaRPr lang="en-US" sz="727" dirty="0"/>
          </a:p>
        </p:txBody>
      </p:sp>
      <p:sp>
        <p:nvSpPr>
          <p:cNvPr id="20" name="Shape 13"/>
          <p:cNvSpPr/>
          <p:nvPr/>
        </p:nvSpPr>
        <p:spPr>
          <a:xfrm>
            <a:off x="2714625" y="4466155"/>
            <a:ext cx="428625" cy="428625"/>
          </a:xfrm>
          <a:prstGeom prst="rect">
            <a:avLst/>
          </a:prstGeom>
          <a:solidFill>
            <a:srgbClr val="FF6B35">
              <a:alpha val="10000"/>
            </a:srgbClr>
          </a:solidFill>
          <a:ln w="18288">
            <a:solidFill>
              <a:srgbClr val="4ECDC4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3922" y="4537593"/>
            <a:ext cx="250031" cy="28575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2473021" y="4923355"/>
            <a:ext cx="91183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E66D"/>
                </a:solidFill>
              </a:rPr>
              <a:t>Agendamento</a:t>
            </a:r>
            <a:endParaRPr lang="en-US" sz="885" dirty="0"/>
          </a:p>
        </p:txBody>
      </p:sp>
      <p:sp>
        <p:nvSpPr>
          <p:cNvPr id="23" name="Text 15"/>
          <p:cNvSpPr/>
          <p:nvPr/>
        </p:nvSpPr>
        <p:spPr>
          <a:xfrm>
            <a:off x="2333104" y="5144812"/>
            <a:ext cx="1191667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F7F7F7"/>
                </a:solidFill>
              </a:rPr>
              <a:t>Seleção de data e horário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A Interface do Tiozão Barbearia</a:t>
            </a:r>
            <a:endParaRPr lang="en-US" sz="243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553" y="887248"/>
            <a:ext cx="1666866" cy="25002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08040" y="3530436"/>
            <a:ext cx="192792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E66D"/>
                </a:solidFill>
              </a:rPr>
              <a:t>Design Limpo e Intuitivo</a:t>
            </a:r>
            <a:endParaRPr lang="en-US" sz="1090" dirty="0"/>
          </a:p>
        </p:txBody>
      </p:sp>
      <p:sp>
        <p:nvSpPr>
          <p:cNvPr id="6" name="Text 2"/>
          <p:cNvSpPr/>
          <p:nvPr/>
        </p:nvSpPr>
        <p:spPr>
          <a:xfrm>
            <a:off x="2071688" y="4087648"/>
            <a:ext cx="50006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F7F7F7"/>
                </a:solidFill>
              </a:rPr>
              <a:t>A interface foi desenvolvida com foco total na experiência do usuário, oferecendo navegação simples e visual atrativo.</a:t>
            </a:r>
            <a:endParaRPr lang="en-US" sz="834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5516" y="4681975"/>
            <a:ext cx="17145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04392" y="4982012"/>
            <a:ext cx="55369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7F7F7"/>
                </a:solidFill>
              </a:rPr>
              <a:t>Responsivo</a:t>
            </a:r>
            <a:endParaRPr lang="en-US" sz="683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7672" y="4681975"/>
            <a:ext cx="22860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168573" y="4982012"/>
            <a:ext cx="8068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7F7F7"/>
                </a:solidFill>
              </a:rPr>
              <a:t>Design Moderno</a:t>
            </a:r>
            <a:endParaRPr lang="en-US" sz="683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2719" y="4681975"/>
            <a:ext cx="200025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453067" y="4982012"/>
            <a:ext cx="61930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7F7F7"/>
                </a:solidFill>
              </a:rPr>
              <a:t>Fácil de Usar</a:t>
            </a:r>
            <a:endParaRPr lang="en-US" sz="68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6B35"/>
                </a:solidFill>
              </a:rPr>
              <a:t>O Futuro do Agendamento</a:t>
            </a:r>
            <a:endParaRPr lang="en-US" sz="243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011538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7213" y="982963"/>
            <a:ext cx="141345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E66D"/>
                </a:solidFill>
              </a:rPr>
              <a:t>Próximos Passos</a:t>
            </a:r>
            <a:endParaRPr lang="en-US" sz="1193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1675907"/>
            <a:ext cx="125016" cy="1428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17922" y="1661620"/>
            <a:ext cx="327094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7F7F7"/>
                </a:solidFill>
              </a:rPr>
              <a:t>Implementação de notificações (lembretes de agendamento)</a:t>
            </a:r>
            <a:endParaRPr lang="en-US" sz="834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2001645"/>
            <a:ext cx="125016" cy="1428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17922" y="1987358"/>
            <a:ext cx="3237319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7F7F7"/>
                </a:solidFill>
              </a:rPr>
              <a:t>Integração com banco de dados real (ao invés de JSON local)</a:t>
            </a:r>
            <a:endParaRPr lang="en-US" sz="834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" y="2327384"/>
            <a:ext cx="142875" cy="14287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35781" y="2313096"/>
            <a:ext cx="2877062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7F7F7"/>
                </a:solidFill>
              </a:rPr>
              <a:t>Desenvolvimento de painel de gestão para o barbeiro</a:t>
            </a:r>
            <a:endParaRPr lang="en-US" sz="834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0594" y="1011538"/>
            <a:ext cx="225028" cy="20002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047059" y="982963"/>
            <a:ext cx="87594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E66D"/>
                </a:solidFill>
              </a:rPr>
              <a:t>Conclusão</a:t>
            </a:r>
            <a:endParaRPr lang="en-US" sz="1193" dirty="0"/>
          </a:p>
        </p:txBody>
      </p:sp>
      <p:sp>
        <p:nvSpPr>
          <p:cNvPr id="14" name="Text 6"/>
          <p:cNvSpPr/>
          <p:nvPr/>
        </p:nvSpPr>
        <p:spPr>
          <a:xfrm>
            <a:off x="4750594" y="1661620"/>
            <a:ext cx="41076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7F7F7"/>
                </a:solidFill>
              </a:rPr>
              <a:t>O Tiozão Barbearia é a solução ideal para modernizar o agendamento e fidelizar clientes.</a:t>
            </a:r>
            <a:endParaRPr lang="en-US" sz="834" dirty="0"/>
          </a:p>
        </p:txBody>
      </p:sp>
      <p:sp>
        <p:nvSpPr>
          <p:cNvPr id="15" name="Text 7"/>
          <p:cNvSpPr/>
          <p:nvPr/>
        </p:nvSpPr>
        <p:spPr>
          <a:xfrm>
            <a:off x="4750594" y="2170221"/>
            <a:ext cx="41076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7F7F7"/>
                </a:solidFill>
              </a:rPr>
              <a:t>Transformamos a experiência do cliente, eliminando filas e oferecendo conveniência, enquanto otimizamos a gestão para o barbeiro.</a:t>
            </a:r>
            <a:endParaRPr lang="en-US" sz="834" dirty="0"/>
          </a:p>
        </p:txBody>
      </p:sp>
      <p:sp>
        <p:nvSpPr>
          <p:cNvPr id="16" name="Text 8"/>
          <p:cNvSpPr/>
          <p:nvPr/>
        </p:nvSpPr>
        <p:spPr>
          <a:xfrm>
            <a:off x="4750594" y="2678823"/>
            <a:ext cx="41076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7F7F7"/>
                </a:solidFill>
              </a:rPr>
              <a:t>Estamos prontos para revolucionar o mercado de agendamento em barbearias!</a:t>
            </a:r>
            <a:endParaRPr lang="en-US" sz="834" dirty="0"/>
          </a:p>
        </p:txBody>
      </p:sp>
      <p:sp>
        <p:nvSpPr>
          <p:cNvPr id="17" name="Text 9"/>
          <p:cNvSpPr/>
          <p:nvPr/>
        </p:nvSpPr>
        <p:spPr>
          <a:xfrm>
            <a:off x="1357313" y="4135450"/>
            <a:ext cx="6429375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942" dirty="0">
                <a:solidFill>
                  <a:srgbClr val="F7F7F7"/>
                </a:solidFill>
              </a:rPr>
              <a:t>Obrigado pela atenção!</a:t>
            </a:r>
            <a:endParaRPr lang="en-US" sz="942" dirty="0"/>
          </a:p>
        </p:txBody>
      </p:sp>
      <p:sp>
        <p:nvSpPr>
          <p:cNvPr id="18" name="Text 10"/>
          <p:cNvSpPr/>
          <p:nvPr/>
        </p:nvSpPr>
        <p:spPr>
          <a:xfrm>
            <a:off x="285750" y="4509771"/>
            <a:ext cx="8572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Tiozão Barbearia</a:t>
            </a:r>
            <a:endParaRPr lang="en-US" sz="160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421</Words>
  <Application>Microsoft Office PowerPoint</Application>
  <PresentationFormat>Apresentação no Ecrã (16:9)</PresentationFormat>
  <Paragraphs>93</Paragraphs>
  <Slides>8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Caio Vinicius</cp:lastModifiedBy>
  <cp:revision>2</cp:revision>
  <dcterms:created xsi:type="dcterms:W3CDTF">2025-11-25T01:28:36Z</dcterms:created>
  <dcterms:modified xsi:type="dcterms:W3CDTF">2025-11-25T01:32:13Z</dcterms:modified>
</cp:coreProperties>
</file>